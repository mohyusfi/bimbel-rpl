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2000" cy="6858000" type="screen4x3"/>
  <ns0:notesSz cx="6858000" cy="9144000"/>
  <ns0:embeddedFontLst>
    <ns0:embeddedFont>
      <ns0:font typeface="DM Sans"/>
      <ns0:bold ns1:id="rIdFont27"/>
      <ns0:regular ns1:id="rIdFont28"/>
    </ns0:embeddedFont>
    <ns0:embeddedFont>
      <ns0:font typeface="JetBrains Mono"/>
      <ns0:bold ns1:id="rIdFont29"/>
      <ns0:regular ns1:id="rIdFont3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Font27" Type="http://schemas.openxmlformats.org/officeDocument/2006/relationships/font" Target="fonts/2ea3a7f0-93d7-4a52-99ed-121809d37bf1.fntdata" /><ns0:Relationship Id="rIdFont28" Type="http://schemas.openxmlformats.org/officeDocument/2006/relationships/font" Target="fonts/4abf6aff-ee89-47ce-b190-f93059be92f2.fntdata" /><ns0:Relationship Id="rIdFont29" Type="http://schemas.openxmlformats.org/officeDocument/2006/relationships/font" Target="fonts/6507d40e-693d-4ef0-88cf-e3301e244471.fntdata" /><ns0:Relationship Id="rIdFont30" Type="http://schemas.openxmlformats.org/officeDocument/2006/relationships/font" Target="fonts/ba680b39-9708-40d7-9c7a-321ae849720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4398168"/>
            <a:ext cx="533400" cy="38100"/>
          </a:xfrm>
          <a:prstGeom prst="rect">
            <a:avLst/>
          </a:prstGeom>
          <a:solidFill>
            <a:srgbClr val="C9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2421731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SPESIFIKASI TEKNIK GO REST API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745581"/>
            <a:ext cx="11353800" cy="547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4F4F5"/>
                </a:solidFill>
                <a:latin typeface="DM Sans"/>
              </a:rPr>
              <a:t>Arsitektur &amp; Integrasi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83768"/>
            <a:ext cx="7715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A1A1AA"/>
                </a:solidFill>
                <a:latin typeface="DM Sans"/>
              </a:rPr>
              <a:t>Panduan Desain Sumber Daya, Kontrak Titik Akhir, Keamanan Kredensial, dan Pola Resiliensi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950964"/>
            <a:ext cx="2486025" cy="1984771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14725" y="2950964"/>
            <a:ext cx="2486025" cy="1984771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0" y="2950964"/>
            <a:ext cx="2486025" cy="1984771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7775" y="2950964"/>
            <a:ext cx="2486025" cy="1984771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STRUKTUR MATERI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Agenda Pokok Pembahasan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265289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JetBrains Mono"/>
              </a:rPr>
              <a:t>BAGIAN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75" y="3551039"/>
            <a:ext cx="2250281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Sumber Daya &amp; Header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275" y="4141589"/>
            <a:ext cx="2143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Hierarki entitas dan rute tersarang.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800" y="3265289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JetBrains Mono"/>
              </a:rPr>
              <a:t>BAGIAN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800" y="3551039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Titik Akhir &amp; Paginasi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800" y="3893939"/>
            <a:ext cx="2143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Kontrak kueri dan operasi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265289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JetBrains Mono"/>
              </a:rPr>
              <a:t>BAGIAN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551039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Keamanan &amp; Galat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3893939"/>
            <a:ext cx="2143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Bearer token dan analisis validasi.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6850" y="3265289"/>
            <a:ext cx="2559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JetBrains Mono"/>
              </a:rPr>
              <a:t>BAGIAN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850" y="3551039"/>
            <a:ext cx="268783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Alur &amp; Resiliensi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6850" y="3893939"/>
            <a:ext cx="214312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Pipeline sistem dan mitigasi beban.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888158"/>
            <a:ext cx="3302049" cy="21103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45049" y="2888158"/>
            <a:ext cx="3302049" cy="21103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51899" y="2888158"/>
            <a:ext cx="3302049" cy="21103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LANDASAN KONSEPTUAL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Prinsip Desain RESTful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240583"/>
            <a:ext cx="2987092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Sifat Tanpa Sesi (Stateless)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926383"/>
            <a:ext cx="28448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Setiap permintaan memuat konteks otentikasi mandiri tanpa penyimpanan sesi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1274" y="3240583"/>
            <a:ext cx="36088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Antarmuka Seragam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1274" y="3650158"/>
            <a:ext cx="28448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Penamaan URI konsisten berbasis kata benda jamak dengan metode HTTP standar.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240583"/>
            <a:ext cx="36088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Keterpisahan Klien-Server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8124" y="3650158"/>
            <a:ext cx="28448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Isolasi logika antarmuka pengguna dari evolusi basis data dan pemrosesan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771775"/>
            <a:ext cx="51054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2771775"/>
            <a:ext cx="51054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01 • SPESIFIKASI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Hierarki Entitas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3124200"/>
            <a:ext cx="559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1717A"/>
                </a:solidFill>
                <a:latin typeface="JetBrains Mono"/>
              </a:rPr>
              <a:t>ENTITAS ROOT INDUK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400425"/>
            <a:ext cx="58757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Pengguna (/users)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24200"/>
            <a:ext cx="559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3B27"/>
                </a:solidFill>
                <a:latin typeface="JetBrains Mono"/>
              </a:rPr>
              <a:t>ENTITAS DEPENDEN (1:N)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400425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Posts, Todos, Comments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848100"/>
            <a:ext cx="5595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ID Primer: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Pengenal unik numerik global.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191000"/>
            <a:ext cx="5595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Profil: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Nama lengkap dan surel unik terverifikasi.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533900"/>
            <a:ext cx="5595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Atribut: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Gender dan status operasional akun.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848100"/>
            <a:ext cx="5595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Posts: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Artikel kepemilikan relasi user_id.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191000"/>
            <a:ext cx="5595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Todos: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Agenda tugas pengguna dengan tenggat waktu.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533900"/>
            <a:ext cx="5595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Comments: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Tanggapan publik pada entitas post_id.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791122"/>
            <a:ext cx="5114925" cy="226635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2791122"/>
            <a:ext cx="5095875" cy="2266354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01 • INTEGRITAS RELASIONAL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Relasi Entitas &amp;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3105447"/>
            <a:ext cx="588823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Pemetaan Kunci Asing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095922"/>
            <a:ext cx="5607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A1A1AA"/>
                </a:solidFill>
                <a:latin typeface="JetBrains Mono"/>
              </a:rPr>
              <a:t>DIAGRAM RELASI KARDINALITAS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534072"/>
            <a:ext cx="56078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user_id: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Mengaitkan entitas Posts dan Todos ke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96022"/>
            <a:ext cx="56078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post_id: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Mengikat komentar langsung ke artikel spesifik.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57972"/>
            <a:ext cx="45815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Cascade Rule: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Penanganan data turunan saat induk dihapus.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400722"/>
            <a:ext cx="560784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F4F4F5"/>
                </a:solidFill>
                <a:latin typeface="JetBrains Mono"/>
              </a:rPr>
              <a:t>[Users] (1) ──────── (N) [Posts]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716833"/>
            <a:ext cx="560784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C93B27"/>
                </a:solidFill>
                <a:latin typeface="JetBrains Mono"/>
              </a:rPr>
              <a:t>  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956744"/>
            <a:ext cx="560784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F4F4F5"/>
                </a:solidFill>
                <a:latin typeface="JetBrains Mono"/>
              </a:rPr>
              <a:t>  ├── (1) ──────── (N) [Todos]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272855"/>
            <a:ext cx="560784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C93B27"/>
                </a:solidFill>
                <a:latin typeface="JetBrains Mono"/>
              </a:rPr>
              <a:t>  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512766"/>
            <a:ext cx="5607843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050" i="0" u="none">
                <a:solidFill>
                  <a:srgbClr val="F4F4F5"/>
                </a:solidFill>
                <a:latin typeface="JetBrains Mono"/>
              </a:rPr>
              <a:t>[Posts] (1) ──────── (N) [Comments]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566987"/>
            <a:ext cx="510540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2566987"/>
            <a:ext cx="510540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2525" y="3309937"/>
            <a:ext cx="4476750" cy="93345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525" y="3309937"/>
            <a:ext cx="28575" cy="933450"/>
          </a:xfrm>
          <a:prstGeom prst="rect">
            <a:avLst/>
          </a:prstGeom>
          <a:solidFill>
            <a:srgbClr val="C9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01 • PROTOKOL AKSES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Perutean Tersarang (Nested Routing)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2881312"/>
            <a:ext cx="58757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Pola Endpoint Tersarang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414837"/>
            <a:ext cx="4572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Mencerminkan konteks kepemilikan data secara intuitif tanpa membebani body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881312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Kaidah Kedalaman Hirarki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62337"/>
            <a:ext cx="5083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F4F5"/>
                </a:solidFill>
                <a:latin typeface="JetBrains Mono"/>
              </a:rPr>
              <a:t>GET /users/{id}/posts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90937"/>
            <a:ext cx="5083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1A1AA"/>
                </a:solidFill>
                <a:latin typeface="JetBrains Mono"/>
              </a:rPr>
              <a:t>GET /users/{id}/todos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19537"/>
            <a:ext cx="50839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F4F5"/>
                </a:solidFill>
                <a:latin typeface="JetBrains Mono"/>
              </a:rPr>
              <a:t>POST /posts/{id}/comments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32898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Maksimal 2 Tingkat: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Hindari penumpukan URI yang terlalu panjang.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91953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Akses Langsung: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Operasi entitas tunggal diarahkan ke ID root (misal: /comments/{id}).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451008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Anti Polusi URI: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Membatasi query join berlapis pada lapisan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2581275"/>
            <a:ext cx="10515600" cy="26860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2581275"/>
          <a:ext cx="10506073" cy="26860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29767"/>
                <a:gridCol w="2334666"/>
                <a:gridCol w="5741640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DM Sans"/>
                        </a:rPr>
                        <a:t>Nama Header HTTP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DM Sans"/>
                        </a:rPr>
                        <a:t>Format Nilai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DM Sans"/>
                        </a:rPr>
                        <a:t>Peran Arsitektural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8181B"/>
                          </a:solidFill>
                          <a:latin typeface="JetBrains Mono"/>
                        </a:rPr>
                        <a:t>Authorization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C93B27"/>
                          </a:solidFill>
                          <a:latin typeface="JetBrains Mono"/>
                        </a:rPr>
                        <a:t>Bearer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27272A"/>
                          </a:solidFill>
                          <a:latin typeface="DM Sans"/>
                        </a:rPr>
                        <a:t>Transmisi kredensial otentikasi stateless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8181B"/>
                          </a:solidFill>
                          <a:latin typeface="JetBrains Mono"/>
                        </a:rPr>
                        <a:t>Accept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52525B"/>
                          </a:solidFill>
                          <a:latin typeface="JetBrains Mono"/>
                        </a:rPr>
                        <a:t>application/json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27272A"/>
                          </a:solidFill>
                          <a:latin typeface="DM Sans"/>
                        </a:rPr>
                        <a:t>Format representasi respons yang diharapkan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8181B"/>
                          </a:solidFill>
                          <a:latin typeface="JetBrains Mono"/>
                        </a:rPr>
                        <a:t>Content-Type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52525B"/>
                          </a:solidFill>
                          <a:latin typeface="JetBrains Mono"/>
                        </a:rPr>
                        <a:t>application/json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27272A"/>
                          </a:solidFill>
                          <a:latin typeface="DM Sans"/>
                        </a:rPr>
                        <a:t>Format serialisasi muatan tubuh permintaan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8181B"/>
                          </a:solidFill>
                          <a:latin typeface="JetBrains Mono"/>
                        </a:rPr>
                        <a:t>X-Request-ID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52525B"/>
                          </a:solidFill>
                          <a:latin typeface="JetBrains Mono"/>
                        </a:rPr>
                        <a:t>UUID v4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27272A"/>
                          </a:solidFill>
                          <a:latin typeface="DM Sans"/>
                        </a:rPr>
                        <a:t>Pengidentifikasi unik untuk penelusuran log sistem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01 • KONTRAK PROTOKOL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Standarisasi Metadata Headers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2681287"/>
            <a:ext cx="10515600" cy="24860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2681287"/>
          <a:ext cx="10506073" cy="24860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18468"/>
                <a:gridCol w="2284511"/>
                <a:gridCol w="5245893"/>
                <a:gridCol w="1657201"/>
              </a:tblGrid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DM Sans"/>
                        </a:rPr>
                        <a:t>Metode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DM Sans"/>
                        </a:rPr>
                        <a:t>Rute Titik Akhir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DM Sans"/>
                        </a:rPr>
                        <a:t>Tindakan Operasi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DM Sans"/>
                        </a:rPr>
                        <a:t>Idempoten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8181B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8181B"/>
                          </a:solidFill>
                          <a:latin typeface="JetBrains Mono"/>
                        </a:rPr>
                        <a:t>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52525B"/>
                          </a:solidFill>
                          <a:latin typeface="JetBrains Mono"/>
                        </a:rPr>
                        <a:t>/v2/users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27272A"/>
                          </a:solidFill>
                          <a:latin typeface="DM Sans"/>
                        </a:rPr>
                        <a:t>Kueri koleksi akun pengguna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8181B"/>
                          </a:solidFill>
                          <a:latin typeface="DM Sans"/>
                        </a:rPr>
                        <a:t>Ya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93B27"/>
                          </a:solidFill>
                          <a:latin typeface="JetBrains Mono"/>
                        </a:rPr>
                        <a:t>POST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52525B"/>
                          </a:solidFill>
                          <a:latin typeface="JetBrains Mono"/>
                        </a:rPr>
                        <a:t>/v2/users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27272A"/>
                          </a:solidFill>
                          <a:latin typeface="DM Sans"/>
                        </a:rPr>
                        <a:t>Pembuatan entitas pengguna baru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71717A"/>
                          </a:solidFill>
                          <a:latin typeface="DM Sans"/>
                        </a:rPr>
                        <a:t>Tidak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18181B"/>
                          </a:solidFill>
                          <a:latin typeface="JetBrains Mono"/>
                        </a:rPr>
                        <a:t>PATCH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52525B"/>
                          </a:solidFill>
                          <a:latin typeface="JetBrains Mono"/>
                        </a:rPr>
                        <a:t>/v2/users/{id}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27272A"/>
                          </a:solidFill>
                          <a:latin typeface="DM Sans"/>
                        </a:rPr>
                        <a:t>Pembaruan sebagian kolom data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71717A"/>
                          </a:solidFill>
                          <a:latin typeface="DM Sans"/>
                        </a:rPr>
                        <a:t>Tidak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71717A"/>
                          </a:solidFill>
                          <a:latin typeface="JetBrains Mono"/>
                        </a:rPr>
                        <a:t>DELETE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52525B"/>
                          </a:solidFill>
                          <a:latin typeface="JetBrains Mono"/>
                        </a:rPr>
                        <a:t>/v2/users/{id}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27272A"/>
                          </a:solidFill>
                          <a:latin typeface="DM Sans"/>
                        </a:rPr>
                        <a:t>Penghapusan rekaman secara permanen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8181B"/>
                          </a:solidFill>
                          <a:latin typeface="DM Sans"/>
                        </a:rPr>
                        <a:t>Ya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02 • KONTRAK TITIK AKHIR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Katalog Titik Akhir Utama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907208"/>
            <a:ext cx="3352800" cy="20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19600" y="2907208"/>
            <a:ext cx="3352800" cy="20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1000" y="2907208"/>
            <a:ext cx="3352800" cy="20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02 • FORMAT 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Format Parameter Kueri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259633"/>
            <a:ext cx="36754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Parameter Paginasi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621583"/>
            <a:ext cx="3500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93B27"/>
                </a:solidFill>
                <a:latin typeface="JetBrains Mono"/>
              </a:rPr>
              <a:t>page, per_page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907333"/>
            <a:ext cx="28956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Menentukan nomor indeks halaman dan kuantitas baris per permintaan.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259633"/>
            <a:ext cx="36754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Penyaringan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5825" y="3621583"/>
            <a:ext cx="3500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93B27"/>
                </a:solidFill>
                <a:latin typeface="JetBrains Mono"/>
              </a:rPr>
              <a:t>status, gender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5825" y="3907333"/>
            <a:ext cx="2895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Filter deterministik berbasis nilai enum yang telah tervalidasi skema.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7225" y="3259633"/>
            <a:ext cx="367545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Pencarian Tekstual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7225" y="3621583"/>
            <a:ext cx="3500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93B27"/>
                </a:solidFill>
                <a:latin typeface="JetBrains Mono"/>
              </a:rPr>
              <a:t>name,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7225" y="3907333"/>
            <a:ext cx="28956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Kueri pencarian teks parsial untuk penemuan rekaman data spesifik.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438400"/>
            <a:ext cx="5105400" cy="3009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2438400"/>
            <a:ext cx="5105400" cy="3009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02 • STRATEGI PERFORMA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Mekanisme Paginasi Kueri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790825"/>
            <a:ext cx="559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1717A"/>
                </a:solidFill>
                <a:latin typeface="JetBrains Mono"/>
              </a:rPr>
              <a:t>MODEL OFFSET (GO REST V2)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067050"/>
            <a:ext cx="58757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Offset &amp;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790825"/>
            <a:ext cx="559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3B27"/>
                </a:solidFill>
                <a:latin typeface="JetBrains Mono"/>
              </a:rPr>
              <a:t>MODEL ALTERNATIF (CURSOR)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067050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Keyset / Kursor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495675"/>
            <a:ext cx="5595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Sederhana: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Navigasi mudah ke nomor halaman acak.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8385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Standar: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Mendukung parameter eksplisit page dan per_page.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4100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Batasan: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Penurunan performa pada nomor offset jutaan baris.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4956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Skalabilitas: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Kecepatan kueri konstan O(1) indeks basis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0671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Stabilitas: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Mencegah data terlewat saat ada mutasi baru.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6386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Skenario: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Cocok untuk aliran data tak berujung (infinite feed).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707481"/>
            <a:ext cx="5133975" cy="243363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76975" y="2707481"/>
            <a:ext cx="5076825" cy="2433637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2525" y="3450431"/>
            <a:ext cx="4505325" cy="66675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525" y="3450431"/>
            <a:ext cx="28575" cy="666750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02 • EKSEKUSI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Eksekusi Kueri GET Terpaginasi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021806"/>
            <a:ext cx="591323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Kueri Permintaan Klien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288631"/>
            <a:ext cx="46005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Meminta halaman pertama berisi dua rekaman pengguna berstatus aktif.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955131"/>
            <a:ext cx="5629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A1A1AA"/>
                </a:solidFill>
                <a:latin typeface="JetBrains Mono"/>
              </a:rPr>
              <a:t>PAYLOAD RESPON JSON (200 OK)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221831"/>
            <a:ext cx="4600575" cy="16716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4F4F5"/>
                </a:solidFill>
                <a:latin typeface="JetBrains Mono"/>
              </a:rPr>
              <a:t>[ { "id": 1001, "name": "John Doe", "email": "john.doe@example.com", "gender": "male", "status": "active" }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3602831"/>
            <a:ext cx="5167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8181B"/>
                </a:solidFill>
                <a:latin typeface="JetBrains Mono"/>
              </a:rPr>
              <a:t>GET /public/v2/users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3802856"/>
            <a:ext cx="5167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93B27"/>
                </a:solidFill>
                <a:latin typeface="JetBrains Mono"/>
              </a:rPr>
              <a:t>?page=1&amp;per_page=2&amp;status=active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566987"/>
            <a:ext cx="510540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2566987"/>
            <a:ext cx="510540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2525" y="3961209"/>
            <a:ext cx="4476750" cy="428625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2525" y="3961209"/>
            <a:ext cx="28575" cy="428625"/>
          </a:xfrm>
          <a:prstGeom prst="rect">
            <a:avLst/>
          </a:prstGeom>
          <a:solidFill>
            <a:srgbClr val="C9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03 • OTENTIKASI &amp; OTORISASI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Protokol Keamanan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2881312"/>
            <a:ext cx="58757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Skema Bearer Token JWT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309937"/>
            <a:ext cx="45720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Kredensial dikirimkan melalui header standar secara aman tanpa menyertakan kunci pada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881312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Proteksi Operasi Mutasi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50" y="4094559"/>
            <a:ext cx="5131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4F4F5"/>
                </a:solidFill>
                <a:latin typeface="JetBrains Mono"/>
              </a:rPr>
              <a:t>Authorization: Bearer eyJhbGciOiJIUzI1Ni...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32898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Wajib Kredensial: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POST, PUT, PATCH, dan DELETE mutlak menuntut token sah.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91953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Stateless Scope: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Hak otorisasi diurai langsung dari klaim payload token.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510087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93B27"/>
                </a:solidFill>
                <a:latin typeface="DM Sans"/>
              </a:rPr>
              <a:t>401 Unauthorized: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Ditolak otomatis jika token kosong atau kadaluarsa.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811958"/>
            <a:ext cx="3302049" cy="22627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45049" y="2811958"/>
            <a:ext cx="3302049" cy="22627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51899" y="2811958"/>
            <a:ext cx="3302049" cy="22627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45049" y="5065216"/>
            <a:ext cx="3302049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45049" y="2811958"/>
            <a:ext cx="3302049" cy="28575"/>
          </a:xfrm>
          <a:prstGeom prst="rect">
            <a:avLst/>
          </a:prstGeom>
          <a:solidFill>
            <a:srgbClr val="C9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49" y="2811958"/>
            <a:ext cx="9525" cy="226278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37574" y="2811958"/>
            <a:ext cx="9525" cy="226278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03 • KENDALI TRAFIK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Kebijakan Batas Frekuensi (Rate Limit)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202483"/>
            <a:ext cx="3341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18181B"/>
                </a:solidFill>
                <a:latin typeface="DM Sans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3964483"/>
            <a:ext cx="276864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Alokasi kuota permintaan maksimum per jendela waktu 60 detik.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9374" y="3221533"/>
            <a:ext cx="3341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C93B27"/>
                </a:solidFill>
                <a:latin typeface="DM Sans"/>
              </a:rPr>
              <a:t>429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9374" y="3983533"/>
            <a:ext cx="27686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Kode penolakan Too Many Requests saat kuota terlampaui.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3202483"/>
            <a:ext cx="3341749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18181B"/>
                </a:solidFill>
                <a:latin typeface="DM Sans"/>
              </a:rPr>
              <a:t>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224" y="3964483"/>
            <a:ext cx="276864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Header X-RateLimit-Reset penentu durasi jeda klien.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3049041"/>
            <a:ext cx="2486025" cy="178861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14725" y="3049041"/>
            <a:ext cx="2486025" cy="178861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91250" y="3049041"/>
            <a:ext cx="2486025" cy="178861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7775" y="3049041"/>
            <a:ext cx="2486025" cy="178861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03 • STANDAR RESPON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Taksonomi Kode Status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363366"/>
            <a:ext cx="2607468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8181B"/>
                </a:solidFill>
                <a:latin typeface="JetBrains Mono"/>
              </a:rPr>
              <a:t>200 / 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3791991"/>
            <a:ext cx="273784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Operasi Sukses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4096791"/>
            <a:ext cx="21812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2525B"/>
                </a:solidFill>
                <a:latin typeface="DM Sans"/>
              </a:rPr>
              <a:t>Data terbaca atau entitas baru terbit.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3363366"/>
            <a:ext cx="2607468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8181B"/>
                </a:solidFill>
                <a:latin typeface="JetBrains Mono"/>
              </a:rPr>
              <a:t>400 / 401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4750" y="3791991"/>
            <a:ext cx="273784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Akses Kredensial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4750" y="4096791"/>
            <a:ext cx="21812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2525B"/>
                </a:solidFill>
                <a:latin typeface="DM Sans"/>
              </a:rPr>
              <a:t>Sintaks cacat atau ketiadaan token.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363366"/>
            <a:ext cx="2607468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C93B27"/>
                </a:solidFill>
                <a:latin typeface="JetBrains Mono"/>
              </a:rPr>
              <a:t>404 / 422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3791991"/>
            <a:ext cx="273784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Entitas &amp; Validasi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4096791"/>
            <a:ext cx="21812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2525B"/>
                </a:solidFill>
                <a:latin typeface="DM Sans"/>
              </a:rPr>
              <a:t>ID nihil atau pelanggaran skema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7800" y="3363366"/>
            <a:ext cx="2607468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71717A"/>
                </a:solidFill>
                <a:latin typeface="JetBrains Mono"/>
              </a:rPr>
              <a:t>500 / 503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7800" y="3791991"/>
            <a:ext cx="273784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Kendala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7800" y="4096791"/>
            <a:ext cx="21812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2525B"/>
                </a:solidFill>
                <a:latin typeface="DM Sans"/>
              </a:rPr>
              <a:t>Anomali backend atau server kelebihan beban.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595562"/>
            <a:ext cx="5133975" cy="265747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76975" y="2595562"/>
            <a:ext cx="5076825" cy="2657475"/>
          </a:xfrm>
          <a:prstGeom prst="rect">
            <a:avLst/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03 • PENANGANAN ANOMALI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Analisis Validasi Galat (422)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909887"/>
            <a:ext cx="591323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Penyebab Status 422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2862262"/>
            <a:ext cx="5629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A1A1AA"/>
                </a:solidFill>
                <a:latin typeface="JetBrains Mono"/>
              </a:rPr>
              <a:t>RESPON LARIK GALAT SPESIFIK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128962"/>
            <a:ext cx="4600575" cy="1857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F4F4F5"/>
                </a:solidFill>
                <a:latin typeface="JetBrains Mono"/>
              </a:rPr>
              <a:t>[ { "field": "email", "message": "has already been taken" }, { "field": "name", "message": "can't be blank" }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338512"/>
            <a:ext cx="4600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93B27"/>
                </a:solidFill>
                <a:latin typeface="DM Sans"/>
              </a:rPr>
              <a:t>Field Wajib Kosong: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Parameter wajib seperti email atau nama tidak disertakan.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910012"/>
            <a:ext cx="4600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93B27"/>
                </a:solidFill>
                <a:latin typeface="DM Sans"/>
              </a:rPr>
              <a:t>Format Tidak Valid: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Struktur sintaks surel menyalahi aturan RFC.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481512"/>
            <a:ext cx="4600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C93B27"/>
                </a:solidFill>
                <a:latin typeface="DM Sans"/>
              </a:rPr>
              <a:t>Duplikasi Nilai Unik: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Alamat surel sudah terdaftar di basis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3248025"/>
            <a:ext cx="199638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67930" y="3248025"/>
            <a:ext cx="199638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97660" y="3248025"/>
            <a:ext cx="199638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27391" y="3248025"/>
            <a:ext cx="199638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57121" y="3248025"/>
            <a:ext cx="1996380" cy="13906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04 • PIPELINE INTEGRASI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Diagram Alur Permintaan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505200"/>
            <a:ext cx="209066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1717A"/>
                </a:solidFill>
                <a:latin typeface="JetBrains Mono"/>
              </a:rPr>
              <a:t>FASE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714750"/>
            <a:ext cx="219519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8181B"/>
                </a:solidFill>
                <a:latin typeface="DM Sans"/>
              </a:rPr>
              <a:t>Klien HTTP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981450"/>
            <a:ext cx="176778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52525B"/>
                </a:solidFill>
                <a:latin typeface="DM Sans"/>
              </a:rPr>
              <a:t>Pengiriman header &amp; payload.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9855" y="3505200"/>
            <a:ext cx="209066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1717A"/>
                </a:solidFill>
                <a:latin typeface="JetBrains Mono"/>
              </a:rPr>
              <a:t>FASE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9855" y="3714750"/>
            <a:ext cx="219519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8181B"/>
                </a:solidFill>
                <a:latin typeface="DM Sans"/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9855" y="3981450"/>
            <a:ext cx="176778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52525B"/>
                </a:solidFill>
                <a:latin typeface="DM Sans"/>
              </a:rPr>
              <a:t>Validasi token dan rate limit.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9585" y="3505200"/>
            <a:ext cx="209066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1717A"/>
                </a:solidFill>
                <a:latin typeface="JetBrains Mono"/>
              </a:rPr>
              <a:t>FASE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9585" y="3714750"/>
            <a:ext cx="219519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8181B"/>
                </a:solidFill>
                <a:latin typeface="DM Sans"/>
              </a:rPr>
              <a:t>Controller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9585" y="3981450"/>
            <a:ext cx="176778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52525B"/>
                </a:solidFill>
                <a:latin typeface="DM Sans"/>
              </a:rPr>
              <a:t>Pemeriksaan skema parameter.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9316" y="3505200"/>
            <a:ext cx="209066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1717A"/>
                </a:solidFill>
                <a:latin typeface="JetBrains Mono"/>
              </a:rPr>
              <a:t>FASE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9316" y="3714750"/>
            <a:ext cx="219519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8181B"/>
                </a:solidFill>
                <a:latin typeface="DM Sans"/>
              </a:rPr>
              <a:t>Basis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9316" y="3981450"/>
            <a:ext cx="176778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52525B"/>
                </a:solidFill>
                <a:latin typeface="DM Sans"/>
              </a:rPr>
              <a:t>Eksekusi kueri transaksi ACID.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9046" y="3505200"/>
            <a:ext cx="209066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93B27"/>
                </a:solidFill>
                <a:latin typeface="JetBrains Mono"/>
              </a:rPr>
              <a:t>FASE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9046" y="3714750"/>
            <a:ext cx="219519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8181B"/>
                </a:solidFill>
                <a:latin typeface="DM Sans"/>
              </a:rPr>
              <a:t>Respons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9046" y="3981450"/>
            <a:ext cx="176778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52525B"/>
                </a:solidFill>
                <a:latin typeface="DM Sans"/>
              </a:rPr>
              <a:t>Serialisasi status dan payload.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907208"/>
            <a:ext cx="3352800" cy="20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19600" y="2907208"/>
            <a:ext cx="3352800" cy="20722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1000" y="2907208"/>
            <a:ext cx="3352800" cy="20722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19600" y="4969966"/>
            <a:ext cx="335280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9600" y="2907208"/>
            <a:ext cx="3352800" cy="28575"/>
          </a:xfrm>
          <a:prstGeom prst="rect">
            <a:avLst/>
          </a:prstGeom>
          <a:solidFill>
            <a:srgbClr val="C9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19600" y="2907208"/>
            <a:ext cx="9525" cy="207228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62875" y="2907208"/>
            <a:ext cx="9525" cy="207228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04 • POLA RESILIENSI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Pola Pemutus Sirkuit (Circuit Breaker)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3259633"/>
            <a:ext cx="3500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8181B"/>
                </a:solidFill>
                <a:latin typeface="JetBrains Mono"/>
              </a:rPr>
              <a:t>STATUS: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" y="3497758"/>
            <a:ext cx="36754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Operasi 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888283"/>
            <a:ext cx="28956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Seluruh lalu lintas kueri dialirkan langsung tanpa ada hambatan kegagalan.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825" y="3278683"/>
            <a:ext cx="3500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3B27"/>
                </a:solidFill>
                <a:latin typeface="JetBrains Mono"/>
              </a:rPr>
              <a:t>STATUS: 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5825" y="3516808"/>
            <a:ext cx="36754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Pemutusan Akses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5825" y="3907333"/>
            <a:ext cx="28956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Permintaan langsung digagalkan cepat guna mencegah kelebihan beban sistem hilir.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7225" y="3259633"/>
            <a:ext cx="3500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1717A"/>
                </a:solidFill>
                <a:latin typeface="JetBrains Mono"/>
              </a:rPr>
              <a:t>STATUS: HALF-OPEN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7225" y="3497758"/>
            <a:ext cx="36754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Uji Pemulihan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7225" y="3888283"/>
            <a:ext cx="28956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Mengalirkan sebagian kecil kueri untuk menguji kestabilan pemulihan layanan.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2438400"/>
            <a:ext cx="5105400" cy="3009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8400" y="2438400"/>
            <a:ext cx="5105400" cy="30099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04 • TOLERANSI KESALAHAN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Strategi Penanganan Kegagalan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2790825"/>
            <a:ext cx="559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8181B"/>
                </a:solidFill>
                <a:latin typeface="JetBrains Mono"/>
              </a:rPr>
              <a:t>POLA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067050"/>
            <a:ext cx="58757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Exponential Backoff &amp; Jitter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790825"/>
            <a:ext cx="5595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93B27"/>
                </a:solidFill>
                <a:latin typeface="JetBrains Mono"/>
              </a:rPr>
              <a:t>POLA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067050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8181B"/>
                </a:solidFill>
                <a:latin typeface="DM Sans"/>
              </a:rPr>
              <a:t>Dead Letter Queue (DLQ)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4956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Jeda Bertingkat: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Pengulangan dengan interval jeda eksponensial.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0671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Variasi Acak: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Penambahan jitter acak mencegah badai pengulangan serentak.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6386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Batas Percobaan: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Maksimal 3 hingga 5 kali pengulangan permintaan.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4956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Isolasi Payload: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Menyimpan pesan gagal ke antrean terpisah secara aman.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40671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Tanpa Data Hilang: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Integritas rekaman tetap terjaga untuk audit lanjutan.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638675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8181B"/>
                </a:solidFill>
                <a:latin typeface="DM Sans"/>
              </a:rPr>
              <a:t>Pemrosesan Ulang:</a:t>
            </a:r>
            <a:r>
              <a:rPr b="0" sz="1350" i="0" u="none">
                <a:solidFill>
                  <a:srgbClr val="52525B"/>
                </a:solidFill>
                <a:latin typeface="DM Sans"/>
              </a:rPr>
              <a:t> Analisis manual dan eksekusi ulang setelah sistem pulih.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3147119"/>
            <a:ext cx="3352800" cy="15924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19600" y="3147119"/>
            <a:ext cx="3352800" cy="15924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1000" y="3147119"/>
            <a:ext cx="3352800" cy="15924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461444"/>
            <a:ext cx="1714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461444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5" y="3461444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5334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93B27"/>
                </a:solidFill>
                <a:latin typeface="DM Sans"/>
              </a:rPr>
              <a:t>BAGIAN 04 • EVALUASI AKHIR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781050"/>
            <a:ext cx="113538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8181B"/>
                </a:solidFill>
                <a:latin typeface="DM Sans"/>
              </a:rPr>
              <a:t>Daftar Periksa Kesiapan Produksi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3842444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Kontrak OpenAPI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185344"/>
            <a:ext cx="3595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Kepatuhan skema dokumentasi.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842444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Audit Kredensial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85344"/>
            <a:ext cx="3595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Validasi ketat masa aktif token.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9125" y="3842444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8181B"/>
                </a:solidFill>
                <a:latin typeface="DM Sans"/>
              </a:rPr>
              <a:t>Observabilitas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9125" y="4185344"/>
            <a:ext cx="3595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52525B"/>
                </a:solidFill>
                <a:latin typeface="DM Sans"/>
              </a:rPr>
              <a:t>Penelusuran metrik X-Request-ID.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29300" y="4363342"/>
            <a:ext cx="533400" cy="38100"/>
          </a:xfrm>
          <a:prstGeom prst="rect">
            <a:avLst/>
          </a:prstGeom>
          <a:solidFill>
            <a:srgbClr val="C9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66109" y="1875532"/>
            <a:ext cx="2059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C93B27"/>
                </a:solidFill>
                <a:latin typeface="DM Sans"/>
              </a:rPr>
              <a:t>KESIMPULAN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328" y="2199382"/>
            <a:ext cx="10751343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4F4F5"/>
                </a:solidFill>
                <a:latin typeface="DM Sans"/>
              </a:rPr>
              <a:t>Arsitektur REST Tangguh, Efisien, &amp; Skalabel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487042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A1A1AA"/>
                </a:solidFill>
                <a:latin typeface="DM Sans"/>
              </a:rPr>
              <a:t>Harmonisasi hierarki data, ketelitian kontrak titik akhir, perlindungan frekuensi, dan penanganan kegagalan terprediksi.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5484" y="4706242"/>
            <a:ext cx="44410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4F4F5"/>
                </a:solidFill>
                <a:latin typeface="DM Sans"/>
              </a:rPr>
              <a:t>Sesi Diskusi &amp; Tanya Jawab Dibuka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